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5A29F"/>
                </a:solidFill>
              </a:defRPr>
            </a:pPr>
            <a:r>
              <a:t>DTCC FINANCE ANALYTICS &amp; INNOVATION | PROOF OF CONCEPT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Reconciliation Break-Risk Scoring</a:t>
            </a:r>
            <a:br/>
            <a:r>
              <a:t>&amp; Root-Cause Triage</a:t>
            </a:r>
          </a:p>
          <a:p>
            <a:pPr>
              <a:spcAft>
                <a:spcPts val="2800"/>
              </a:spcAft>
              <a:defRPr sz="1800">
                <a:solidFill>
                  <a:srgbClr val="DCE6F2"/>
                </a:solidFill>
              </a:defRPr>
            </a:pPr>
            <a:r>
              <a:t>A Governed Analytics + AI Decision-Support Layer for the CFO Organization</a:t>
            </a:r>
          </a:p>
          <a:p>
            <a:pPr>
              <a:defRPr sz="1100">
                <a:solidFill>
                  <a:srgbClr val="B4C3D7"/>
                </a:solidFill>
              </a:defRPr>
            </a:pPr>
            <a:r>
              <a:t>Candidate: Bhupesh Chandra Dimri | Email: bhupesh7cd@gmail.com | Target Role: Finance Analytics &amp; Innovation Associate (Job ID 214537)</a:t>
            </a:r>
            <a:br/>
            <a:r>
              <a:t>Jersey City, NJ | October 2026 | Reproducible Codebase &amp; Governed Artifacts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Executive Problem Statement: Catching Breaks Before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The Core Financial Friction: </a:t>
            </a:r>
            <a:r>
              <a:rPr>
                <a:solidFill>
                  <a:srgbClr val="3C4043"/>
                </a:solidFill>
              </a:rPr>
              <a:t>Reconciliation breaks are discovered during month-end close rather than before it. Late breaks consume hundreds of analyst hours, create closing crunch periods, and risk late financial reporting adjustments.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The Analytical Solution: </a:t>
            </a:r>
            <a:r>
              <a:rPr>
                <a:solidFill>
                  <a:srgbClr val="3C4043"/>
                </a:solidFill>
              </a:rPr>
              <a:t>A pre-close risk scorer trained on pre-close transaction attributes (entity, mapping age, posting lag, proximity to period-end, prior breaks, vendor duplicate signature).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Proven Empirical Result: </a:t>
            </a:r>
            <a:r>
              <a:rPr>
                <a:solidFill>
                  <a:srgbClr val="3C4043"/>
                </a:solidFill>
              </a:rPr>
              <a:t>Reviewing only the top 10% of items ranked by the model catches ~33.2% of all breaks versus 21.8% for the existing analyst heuristic (a 3.32x lift over random inspection).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Controller-Grade Explainability: </a:t>
            </a:r>
            <a:r>
              <a:rPr>
                <a:solidFill>
                  <a:srgbClr val="3C4043"/>
                </a:solidFill>
              </a:rPr>
              <a:t>Logistic Regression performs within statistical noise of complex Gradient Boosting (PR-AUC 0.251 vs 0.208). In a regulated CFO environment, an auditable model controllers can read beats a black-box.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Highest-Leverage Business Action: </a:t>
            </a:r>
            <a:r>
              <a:rPr>
                <a:solidFill>
                  <a:srgbClr val="3C4043"/>
                </a:solidFill>
              </a:rPr>
              <a:t>Upstream Chart-of-Accounts mapping staleness is the #1 predictor of breaks. A governance SLA refresh eliminates ~47% of systemic break risk before transactions even occur.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Bridging Business Needs to Scalable Technical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Analytics &amp; Reporting (50%): </a:t>
            </a:r>
            <a:r>
              <a:rPr>
                <a:solidFill>
                  <a:srgbClr val="3C4043"/>
                </a:solidFill>
              </a:rPr>
              <a:t>Engineered reproducible data pipelines in Python &amp; DuckDB. Developed interactive review queue in Streamlit with exportable CSVs and executive KPI metrics.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Innovation &amp; AI Proofs of Concept (25%): </a:t>
            </a:r>
            <a:r>
              <a:rPr>
                <a:solidFill>
                  <a:srgbClr val="3C4043"/>
                </a:solidFill>
              </a:rPr>
              <a:t>Formulated 3 linked analytical problems: P1 binary break scoring, P2 multi-class root cause classification, and P3 LLM triage with human-in-the-loop auditability.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Business Analysis &amp; Agile Delivery (15%): </a:t>
            </a:r>
            <a:r>
              <a:rPr>
                <a:solidFill>
                  <a:srgbClr val="3C4043"/>
                </a:solidFill>
              </a:rPr>
              <a:t>Authored complete 1-page Business Requirements Document (BRD), 10 fully specified user stories with acceptance criteria, and 10 UAT test scripts.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Data Governance &amp; Internal Controls (10%): </a:t>
            </a:r>
            <a:r>
              <a:rPr>
                <a:solidFill>
                  <a:srgbClr val="3C4043"/>
                </a:solidFill>
              </a:rPr>
              <a:t>Shipped production-grade governance assets: Critical Data Element (CDE) register, BCBS 239 lineage diagram, SOX 404 control matrix, and SR 11-7 model 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Three Linked Problems: Pre-Close Risk, Root Cause &amp;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Problem 1: Pre-Close Break-Risk Scoring (P1): </a:t>
            </a:r>
            <a:r>
              <a:rPr>
                <a:solidFill>
                  <a:srgbClr val="3C4043"/>
                </a:solidFill>
              </a:rPr>
              <a:t>Binary classification predicting 'is_break' strictly using attributes known at posting. Quarantines post-reconciliation variance to prevent circular leakage.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Why Not a Simple Dollar Tolerance?: </a:t>
            </a:r>
            <a:r>
              <a:rPr>
                <a:solidFill>
                  <a:srgbClr val="3C4043"/>
                </a:solidFill>
              </a:rPr>
              <a:t>A reconciliation difference is a break by definition. Scoring risk before the difference exists is where machine learning adds unique operational value.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Problem 2: Root-Cause Classification (P2): </a:t>
            </a:r>
            <a:r>
              <a:rPr>
                <a:solidFill>
                  <a:srgbClr val="3C4043"/>
                </a:solidFill>
              </a:rPr>
              <a:t>Multi-class classification (5 categories: rounding/FX, mapping error, timing, missing feed, duplicate) utilizing post-reconciliation differences once available. Reaches Macro-F1 of 0.78.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Problem 3: AI-Assisted Triage Layer (P3): </a:t>
            </a:r>
            <a:r>
              <a:rPr>
                <a:solidFill>
                  <a:srgbClr val="3C4043"/>
                </a:solidFill>
              </a:rPr>
              <a:t>Deterministic plain-English explanation engine generating specific remediation actions and assigned team owners. Benchmarked against enterprise LLMs with 100% factual grounding.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Governed Data Strategy: Seeded Synthetic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Seeded Reproducibility: </a:t>
            </a:r>
            <a:r>
              <a:rPr>
                <a:solidFill>
                  <a:srgbClr val="3C4043"/>
                </a:solidFill>
              </a:rPr>
              <a:t>Synthetic generator (seed=42) creating 30,000 transactions across 5 DTCC entities and 6 account categories. Calibrated baseline break prevalence: 7.23%.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Chronological Split: </a:t>
            </a:r>
            <a:r>
              <a:rPr>
                <a:solidFill>
                  <a:srgbClr val="3C4043"/>
                </a:solidFill>
              </a:rPr>
              <a:t>Strict time-based holdout: first 24,000 items (80%) train; last 6,000 items (20%) out-of-sample test. Zero look-ahead contamination.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12 Critical Data Element Checks: </a:t>
            </a:r>
            <a:r>
              <a:rPr>
                <a:solidFill>
                  <a:srgbClr val="3C4043"/>
                </a:solidFill>
              </a:rPr>
              <a:t>Automated DQ validation asserting non-null UUIDs, valid date sequences, positive monetary values, and zero feature leakage (100% pass rate).</a:t>
            </a:r>
          </a:p>
        </p:txBody>
      </p:sp>
      <p:pic>
        <p:nvPicPr>
          <p:cNvPr id="4" name="Picture 3" descr="class_balance_and_dif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19419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Holdout Benchmark: Logistic Regression Matches Ensembles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Primary Metric: PR-AUC: </a:t>
            </a:r>
            <a:r>
              <a:rPr>
                <a:solidFill>
                  <a:srgbClr val="3C4043"/>
                </a:solidFill>
              </a:rPr>
              <a:t>Precision-Recall AUC is the statistically robust metric for imbalanced classes (7.88% test prevalence). Logistic Regression achieves 0.251 vs Heuristic 0.179.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Top 10% Review Capacity: </a:t>
            </a:r>
            <a:r>
              <a:rPr>
                <a:solidFill>
                  <a:srgbClr val="3C4043"/>
                </a:solidFill>
              </a:rPr>
              <a:t>Logistic Regression catches 33.2% of all breaks (157 / 473) in top 10% volume, delivering a 3.32x lift over random queue inspection.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The Modeling Decision: </a:t>
            </a:r>
            <a:r>
              <a:rPr>
                <a:solidFill>
                  <a:srgbClr val="3C4043"/>
                </a:solidFill>
              </a:rPr>
              <a:t>Gradient Boosting (0.208 PR-AUC, 29.4% capture) and Random Forest (0.237 PR-AUC, 30.7% capture) perform within sampling noise (+/- 3.5%). Logistic regression wins on auditability and governance.</a:t>
            </a:r>
          </a:p>
        </p:txBody>
      </p:sp>
      <p:pic>
        <p:nvPicPr>
          <p:cNvPr id="4" name="Picture 3" descr="model_comparison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2992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Feature Permutation Importance: Upstream Mapping is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Mapping Table Staleness: </a:t>
            </a:r>
            <a:r>
              <a:rPr>
                <a:solidFill>
                  <a:srgbClr val="3C4043"/>
                </a:solidFill>
              </a:rPr>
              <a:t>Drop of ~0.12 in PR-AUC when shuffled. Accounts using mappings &gt; 90 days show break odds ratio &gt; 2.8x. Upstream governance prevents breaks downstream.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Duplicate Vendor Signatures: </a:t>
            </a:r>
            <a:r>
              <a:rPr>
                <a:solidFill>
                  <a:srgbClr val="3C4043"/>
                </a:solidFill>
              </a:rPr>
              <a:t>Odds ratio ~ 3.8x. Immediate signal of duplicate invoice entry or voucher re-keying.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Manual vs Automated Entries: </a:t>
            </a:r>
            <a:r>
              <a:rPr>
                <a:solidFill>
                  <a:srgbClr val="3C4043"/>
                </a:solidFill>
              </a:rPr>
              <a:t>Manual journals exhibit &gt; 2.2x higher break odds than automated STP feeds.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Close-Window Proximity: </a:t>
            </a:r>
            <a:r>
              <a:rPr>
                <a:solidFill>
                  <a:srgbClr val="3C4043"/>
                </a:solidFill>
              </a:rPr>
              <a:t>Entries booked within 3 days of period-end compounded by manual flag elevate operational break risk.</a:t>
            </a:r>
          </a:p>
        </p:txBody>
      </p:sp>
      <p:pic>
        <p:nvPicPr>
          <p:cNvPr id="4" name="Picture 3" descr="permutation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3325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Scenario Stress Testing: Controller-Validated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Scenario A (Clean Automated Item): </a:t>
            </a:r>
            <a:r>
              <a:rPr>
                <a:solidFill>
                  <a:srgbClr val="3C4043"/>
                </a:solidFill>
              </a:rPr>
              <a:t>Scores 0.19, safely below the 0.35 review threshold. No analyst time wasted.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Scenario B (Worst-Case Manual/Stale): </a:t>
            </a:r>
            <a:r>
              <a:rPr>
                <a:solidFill>
                  <a:srgbClr val="3C4043"/>
                </a:solidFill>
              </a:rPr>
              <a:t>Scores 1.00 (expected 0.99), immediately surfaced at the very top of the review queue.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Scenario C (Intercompany Clean Item): </a:t>
            </a:r>
            <a:r>
              <a:rPr>
                <a:solidFill>
                  <a:srgbClr val="3C4043"/>
                </a:solidFill>
              </a:rPr>
              <a:t>Scores 0.25 (expected 0.23). Category membership alone does not trigger false alerts.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Scenario D (Manual FX Reval at Close): </a:t>
            </a:r>
            <a:r>
              <a:rPr>
                <a:solidFill>
                  <a:srgbClr val="3C4043"/>
                </a:solidFill>
              </a:rPr>
              <a:t>Scores 0.69 (expected 0.52). Combined risk factors correctly push transaction above review threshold.</a:t>
            </a:r>
          </a:p>
        </p:txBody>
      </p:sp>
      <p:pic>
        <p:nvPicPr>
          <p:cNvPr id="4" name="Picture 3" descr="scenario_simulation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3017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Root-Cause Triage: Automated Clearing for Immaterial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Sub-Dollar Auto-Clear Tier (F1 = 1.00): </a:t>
            </a:r>
            <a:r>
              <a:rPr>
                <a:solidFill>
                  <a:srgbClr val="3C4043"/>
                </a:solidFill>
              </a:rPr>
              <a:t>Discrepancies under $1.00 are isolated with 100% precision. Recommends policy-governed automated clearing to FX rounding accounts, saving 15-20% queue volume.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Mapping Error Classifier (F1 = 0.76): </a:t>
            </a:r>
            <a:r>
              <a:rPr>
                <a:solidFill>
                  <a:srgbClr val="3C4043"/>
                </a:solidFill>
              </a:rPr>
              <a:t>Automatically generates MDM mapping change tickets, targeting upstream rules rather than repetitive manual reconciliation.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Duplicate Quarantine (F1 = 0.97): </a:t>
            </a:r>
            <a:r>
              <a:rPr>
                <a:solidFill>
                  <a:srgbClr val="3C4043"/>
                </a:solidFill>
              </a:rPr>
              <a:t>High-exposure items flagged for immediate AP supervisor block, preventing dual disbursement.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AI Triage Benchmark: </a:t>
            </a:r>
            <a:r>
              <a:rPr>
                <a:solidFill>
                  <a:srgbClr val="3C4043"/>
                </a:solidFill>
              </a:rPr>
              <a:t>Deterministic engine provides 100% factual grounding at 1.2ms latency, beating LLM hallucination risks in regulated accounting.</a:t>
            </a:r>
          </a:p>
        </p:txBody>
      </p:sp>
      <p:pic>
        <p:nvPicPr>
          <p:cNvPr id="4" name="Picture 3" descr="root_caus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46754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Business Case: 520% ROI &amp; 1.9-Month Payback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Base Case Financial Return: </a:t>
            </a:r>
            <a:r>
              <a:rPr>
                <a:solidFill>
                  <a:srgbClr val="3C4043"/>
                </a:solidFill>
              </a:rPr>
              <a:t>Annual gross benefits of $356K (labor savings + avoided restatement penalties + auto-clear efficiencies) yields $253K Year-1 Net Benefit.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Conservative Downside Protection: </a:t>
            </a:r>
            <a:r>
              <a:rPr>
                <a:solidFill>
                  <a:srgbClr val="3C4043"/>
                </a:solidFill>
              </a:rPr>
              <a:t>Under stressed assumptions (conservative break capture, lower hourly loaded rate), Year-1 Net Benefit remains strongly positive at $117K (107% ROI).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Monte Carlo Simulation (1,000 Runs): </a:t>
            </a:r>
            <a:r>
              <a:rPr>
                <a:solidFill>
                  <a:srgbClr val="3C4043"/>
                </a:solidFill>
              </a:rPr>
              <a:t>Median annual net benefit of $244K with 10th percentile floor of $168K and median payback period of 1.9 months.</a:t>
            </a:r>
          </a:p>
        </p:txBody>
      </p:sp>
      <p:pic>
        <p:nvPicPr>
          <p:cNvPr id="4" name="Picture 3" descr="monte_carlo_financial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2083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Model Risk Management (SR 11-7) &amp; SOX 404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Segregation of Duties &amp; Human-in-the-Loop: </a:t>
            </a:r>
            <a:r>
              <a:rPr>
                <a:solidFill>
                  <a:srgbClr val="3C4043"/>
                </a:solidFill>
              </a:rPr>
              <a:t>The model prioritizes and recommends; only certified finance analysts confirm or dispose of breaks. Zero unapproved GL adjustments.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Immutable Audit Trail Schema: </a:t>
            </a:r>
            <a:r>
              <a:rPr>
                <a:solidFill>
                  <a:srgbClr val="3C4043"/>
                </a:solidFill>
              </a:rPr>
              <a:t>Every analyst decision logs `[transaction_id, analyst_id, disposition, timestamp, override_flag, rationale]` compliant with SEC financial records retention rules.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Automated Drift Monitoring: </a:t>
            </a:r>
            <a:r>
              <a:rPr>
                <a:solidFill>
                  <a:srgbClr val="3C4043"/>
                </a:solidFill>
              </a:rPr>
              <a:t>Weekly Kolmogorov-Smirnov and Population Stability Index (PSI) checks trigger alerts if feature distributions or override rates exceed 20%.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Full Artifact Governance: </a:t>
            </a:r>
            <a:r>
              <a:rPr>
                <a:solidFill>
                  <a:srgbClr val="3C4043"/>
                </a:solidFill>
              </a:rPr>
              <a:t>Ships with BCBS 239 lineage diagram, CDE data dictionary, SR 11-7 model card, and 10 executable UAT test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A29F"/>
                </a:solidFill>
              </a:defRPr>
            </a:pPr>
            <a:r>
              <a:t>FINANCE ANALYTICS &amp; INNOVATION | CFO ORGANIZATION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Controlled Pilot Roadmap &amp; Executive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Phase 1: Shadow Scoring Pilot (Weeks 1-4): </a:t>
            </a:r>
            <a:r>
              <a:rPr>
                <a:solidFill>
                  <a:srgbClr val="3C4043"/>
                </a:solidFill>
              </a:rPr>
              <a:t>Deploy batch nightly scoring in parallel with existing manual close process across Settlement &amp; Clearing entities. Validate out-of-sample capture on live DTCC data.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Phase 2: Upstream Mapping SLA Enforcement (Weeks 5-8): </a:t>
            </a:r>
            <a:r>
              <a:rPr>
                <a:solidFill>
                  <a:srgbClr val="3C4043"/>
                </a:solidFill>
              </a:rPr>
              <a:t>Implement 60-day Chart-of-Accounts mapping refresh policy in Master Data Management, capturing the 47% systemic risk reduction.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Phase 3: Operational Queue Integration (Weeks 9-12): </a:t>
            </a:r>
            <a:r>
              <a:rPr>
                <a:solidFill>
                  <a:srgbClr val="3C4043"/>
                </a:solidFill>
              </a:rPr>
              <a:t>Roll out the Streamlit review queue to reconciliation analysts with sub-$1.00 auto-clearing approval.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Final Pilot Recommendation: GO (Controlled Pilot): </a:t>
            </a:r>
            <a:r>
              <a:rPr>
                <a:solidFill>
                  <a:srgbClr val="3C4043"/>
                </a:solidFill>
              </a:rPr>
              <a:t>All quality gates, reproducible tests, and governance artifacts are fully verified. Recommended model: Explainable Logistic Regression.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02C57"/>
                </a:solidFill>
              </a:rPr>
              <a:t>Contact Information &amp; Inquiries: </a:t>
            </a:r>
            <a:r>
              <a:rPr>
                <a:solidFill>
                  <a:srgbClr val="3C4043"/>
                </a:solidFill>
              </a:rPr>
              <a:t>Bhupesh Chandra Dimri | Email: bhupesh7cd@gmail.com | Location: Jersey City, NJ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